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3" r:id="rId3"/>
    <p:sldId id="264" r:id="rId4"/>
    <p:sldId id="265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72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40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D5898F-2792-412D-B61B-CDADFF14315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35D906-1EEB-4664-A49C-B76CBDD3D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343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DA4A2-05D2-6DBB-518C-1C6FC6C8F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DB03BD-115E-4A25-390C-1388408D8B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4E8CA5-2A22-E08D-821D-59BA87CBA9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AC953C-3A8D-AA1F-CB0F-0647BCA4BF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35D906-1EEB-4664-A49C-B76CBDD3DBB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489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35D906-1EEB-4664-A49C-B76CBDD3DBB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8449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35D906-1EEB-4664-A49C-B76CBDD3DBB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858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0CAB0-94C3-69F4-8ABE-EC47192788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70CC4A-B110-FC60-E844-05975FC644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D6E86-4AF5-2EB3-AB50-B7EFC6B1D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1BA2D-83C4-4663-B5B6-38F92C3DD24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A1CE6-252D-B521-8AD8-AA019A99B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C9942-EF86-A281-C7C2-7D820586C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15F4A-9657-496D-9F57-9DDE57B8D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231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CE5A3-8EA4-EEB9-5AE4-D4835239D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D61C4-F488-9ED6-0D29-C556F4D7E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80713-A38F-E9CE-0EAC-F868B2744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1BA2D-83C4-4663-B5B6-38F92C3DD24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85223-215C-0379-8F15-106D3D37B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2ABD2B-6F9B-C0FE-9C09-5DB92520D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15F4A-9657-496D-9F57-9DDE57B8D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251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A2081-90C3-A23A-D0C5-FC9C71C2F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C3BCD3-4F96-C8EA-689B-1D36B95B84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9F5B5-6827-A83F-CA79-C615C6B41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1BA2D-83C4-4663-B5B6-38F92C3DD24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F784E-34AE-7514-CD4A-8E6DD3A13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6EE85-6721-C057-2037-531EEECBB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15F4A-9657-496D-9F57-9DDE57B8D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145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3E156-7B6F-C74C-86C7-2651896A0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82581-5946-B928-1DFF-0739473144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39FCAE-6245-007A-E74D-A3D9033D92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E57088-A33E-8530-9258-CBF0096A5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1BA2D-83C4-4663-B5B6-38F92C3DD24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5960BC-C91C-7219-DAC9-190DF5554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5C94CB-28C1-0568-1698-E1DB680DF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15F4A-9657-496D-9F57-9DDE57B8D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903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DED3E-9FC9-BB0A-31C7-4A46707F8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51D5F-5A9A-9593-6AB0-515DFA74EF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68E000-4971-FC92-7FB1-98FFC14589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D1CE66-012E-2813-F171-49E9351CC5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D3D4E0-65AA-94EC-5A01-A0AF822BEC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585518-CD04-EB5B-3309-D5D06BD21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1BA2D-83C4-4663-B5B6-38F92C3DD24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3ACEBC-26A8-C760-4A36-BF23D7001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C13C44-A9F9-3F21-172A-29C03EE65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15F4A-9657-496D-9F57-9DDE57B8D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09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D04A2-EFF1-1554-8AD2-2D2ED2C78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7EA6F2-8A11-14DF-9149-07A0F4838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1BA2D-83C4-4663-B5B6-38F92C3DD24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B91B95-7CAD-3A92-2E61-BB0CD6C90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78D2AB-DE3B-CC19-E6AC-956B257C2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15F4A-9657-496D-9F57-9DDE57B8D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621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6A1CAE-84C1-6715-9CF3-846E84C58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1BA2D-83C4-4663-B5B6-38F92C3DD24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9DEF26-8CA1-84AD-D371-A0FB29E64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B5E4C2-0A93-9F77-4BCB-4334ACF81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15F4A-9657-496D-9F57-9DDE57B8D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173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009DF-81E4-376D-4613-1AF0D6E93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E878B-FF23-F879-D913-9497CA2AC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F1B23B-59B0-68EC-FBB2-F227EB8526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ED14DD-7E8D-9044-6908-45462E4D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1BA2D-83C4-4663-B5B6-38F92C3DD24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72BB74-049A-C15F-66CA-F80066404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534652-2D92-4FF9-8EFA-38ADF6265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15F4A-9657-496D-9F57-9DDE57B8D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199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10AB8-E177-5F00-C9C2-A9217C011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7FED34-91F6-5FD9-696B-AF6058A012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414844-E2C5-4976-03CE-9CE73C0302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5ECEC2-37EF-D42C-C0E4-FD304C967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1BA2D-83C4-4663-B5B6-38F92C3DD24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046A87-E4EB-6858-60C7-DE251E454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46E7EB-617E-3D64-CA6F-657C1B00B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15F4A-9657-496D-9F57-9DDE57B8D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967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CDFC6-9626-2CBE-90E5-3FC1109A6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CC08DC-2400-52FC-FB0C-836F6EF9E1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148F8-8A11-71D8-2348-13C06BC8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1BA2D-83C4-4663-B5B6-38F92C3DD24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C4CFA-D9AE-E1EB-5FF3-1ACACC862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74B1D-7CF4-E1A6-43FA-41552228E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15F4A-9657-496D-9F57-9DDE57B8D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73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28DCF7-3F54-F496-B48D-6D893D1388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E843A3-0DEC-CD19-AF91-6CEE0921F9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03321-2F04-6C4F-9F27-F14E61AAA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1BA2D-83C4-4663-B5B6-38F92C3DD24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9E0E5-4486-C966-5DD9-4D576F0EB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5675E-C4B6-8C82-C1BF-7DCD4F504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15F4A-9657-496D-9F57-9DDE57B8D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05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14EE43-FC0D-DA39-62B2-FA3F45F11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6A3FF-931A-A4FC-47E1-50E99BEDB2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B95FB-5D77-8D7B-A0ED-70AF3B964A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1BA2D-83C4-4663-B5B6-38F92C3DD24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F6BA4-6A3E-1D68-63D2-A4EAA3E7FF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D620F-9CDF-A288-4DBA-65AEBE812F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E15F4A-9657-496D-9F57-9DDE57B8D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194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microsoft.com/office/2007/relationships/media" Target="../media/media3.mp4"/><Relationship Id="rId7" Type="http://schemas.openxmlformats.org/officeDocument/2006/relationships/image" Target="../media/image15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3.mp4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BF030-5B39-972F-9D9A-94D193CCF0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63" y="1541708"/>
            <a:ext cx="7889858" cy="1743247"/>
          </a:xfrm>
        </p:spPr>
        <p:txBody>
          <a:bodyPr>
            <a:noAutofit/>
          </a:bodyPr>
          <a:lstStyle/>
          <a:p>
            <a:r>
              <a:rPr lang="en-US" sz="3800" b="1" dirty="0">
                <a:solidFill>
                  <a:srgbClr val="0F72BA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Modelling the Morphodynamic Response To Flow Regulation In An Artificial Reservoir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9A88AA-B864-DFF1-6A7C-692DAFBF78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153" y="3479323"/>
            <a:ext cx="7821197" cy="1008714"/>
          </a:xfrm>
        </p:spPr>
        <p:txBody>
          <a:bodyPr>
            <a:normAutofit/>
          </a:bodyPr>
          <a:lstStyle/>
          <a:p>
            <a:r>
              <a:rPr lang="en-US" sz="1800" b="1" dirty="0"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Luca Cortese</a:t>
            </a:r>
            <a:r>
              <a:rPr lang="en-US" sz="1800" b="1" baseline="30000" dirty="0"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1</a:t>
            </a:r>
            <a:r>
              <a:rPr lang="en-US" sz="1800" dirty="0"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, Mark Behn</a:t>
            </a:r>
            <a:r>
              <a:rPr lang="en-US" sz="1800" baseline="30000" dirty="0"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1</a:t>
            </a:r>
            <a:r>
              <a:rPr lang="en-US" sz="1800" dirty="0"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, Anthony Edgington</a:t>
            </a:r>
            <a:r>
              <a:rPr lang="en-US" sz="1800" baseline="30000" dirty="0"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1</a:t>
            </a:r>
            <a:r>
              <a:rPr lang="en-US" sz="1800" dirty="0"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, Sydney Crisanti</a:t>
            </a:r>
            <a:r>
              <a:rPr lang="en-US" sz="1800" baseline="30000" dirty="0"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2</a:t>
            </a:r>
            <a:r>
              <a:rPr lang="en-US" sz="1800" dirty="0"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, Travis Dahl</a:t>
            </a:r>
            <a:r>
              <a:rPr lang="en-US" sz="1800" baseline="30000" dirty="0"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2</a:t>
            </a:r>
            <a:r>
              <a:rPr lang="en-US" sz="1800" dirty="0"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, Christopher Sheehan</a:t>
            </a:r>
            <a:r>
              <a:rPr lang="en-US" sz="1800" baseline="30000" dirty="0"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3</a:t>
            </a:r>
            <a:r>
              <a:rPr lang="en-US" sz="1800" dirty="0"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, Danielle Tarpley</a:t>
            </a:r>
            <a:r>
              <a:rPr lang="en-US" sz="1800" baseline="30000" dirty="0"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2</a:t>
            </a:r>
            <a:r>
              <a:rPr lang="en-US" sz="1800" dirty="0"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, Amanda Tritinger</a:t>
            </a:r>
            <a:r>
              <a:rPr lang="en-US" sz="1800" baseline="30000" dirty="0"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2</a:t>
            </a:r>
            <a:r>
              <a:rPr lang="en-US" sz="1800" dirty="0"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, and Noah Snyder</a:t>
            </a:r>
            <a:r>
              <a:rPr lang="en-US" sz="1800" baseline="30000" dirty="0"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1</a:t>
            </a:r>
            <a:endParaRPr lang="en-US" sz="1800" dirty="0"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endParaRPr lang="en-US" sz="1800" dirty="0"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6B5830-1651-4E51-2F15-0EAAEA86AEA8}"/>
              </a:ext>
            </a:extLst>
          </p:cNvPr>
          <p:cNvSpPr txBox="1"/>
          <p:nvPr/>
        </p:nvSpPr>
        <p:spPr>
          <a:xfrm>
            <a:off x="356602" y="4528762"/>
            <a:ext cx="671798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i="1" baseline="30000" dirty="0"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1</a:t>
            </a:r>
            <a:r>
              <a:rPr lang="en-US" sz="1200" i="1" dirty="0"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Boston College, Earth and Environmental Sciences, Chestnut Hill, MA, United States of America</a:t>
            </a:r>
          </a:p>
          <a:p>
            <a:pPr algn="l"/>
            <a:r>
              <a:rPr lang="en-US" sz="1200" i="1" baseline="30000" dirty="0"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2</a:t>
            </a:r>
            <a:r>
              <a:rPr lang="en-US" sz="1200" i="1" dirty="0"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Coastal and Hydraulics Laboratory, U.S. Army Engineer Research and Development Center, Vicksburg, MS, United States of America</a:t>
            </a:r>
          </a:p>
          <a:p>
            <a:pPr algn="l"/>
            <a:r>
              <a:rPr lang="en-US" sz="1200" i="1" baseline="30000" dirty="0"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3</a:t>
            </a:r>
            <a:r>
              <a:rPr lang="en-US" sz="1200" i="1" dirty="0"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College of Arts and Sciences: Earth and Environmental Geosciences, University of Dayton, Dayton, OH, United States of America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086C35-2779-78C2-CE26-1C9E4AA64F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176" y="204493"/>
            <a:ext cx="866422" cy="121299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BDC7224-E5D6-2503-6CC0-138C32A496B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17321" y="113315"/>
            <a:ext cx="4003544" cy="644742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D3933EF-3E81-8F57-6279-269327A333CD}"/>
              </a:ext>
            </a:extLst>
          </p:cNvPr>
          <p:cNvSpPr txBox="1"/>
          <p:nvPr/>
        </p:nvSpPr>
        <p:spPr>
          <a:xfrm>
            <a:off x="4299458" y="5979785"/>
            <a:ext cx="37433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Contact: cortel@bc.edu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7867E6-8570-5714-019D-485EDF11EF43}"/>
              </a:ext>
            </a:extLst>
          </p:cNvPr>
          <p:cNvSpPr txBox="1"/>
          <p:nvPr/>
        </p:nvSpPr>
        <p:spPr>
          <a:xfrm>
            <a:off x="1994981" y="395102"/>
            <a:ext cx="417614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rgbClr val="0F72BA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Session: HS9.2 – EGU26-13816</a:t>
            </a:r>
          </a:p>
          <a:p>
            <a:r>
              <a:rPr lang="en-US" sz="2200" dirty="0">
                <a:solidFill>
                  <a:srgbClr val="0F72BA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Vienna 7 May 2026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FE664BD-6F09-4299-84BC-3B2C6FEAA3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6602" y="246881"/>
            <a:ext cx="1384263" cy="10972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B7D0CD3-580D-1462-8BA2-5BF52D7A18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602" y="5757361"/>
            <a:ext cx="918135" cy="91813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0DF9D75-96E6-7589-AC91-C5B0AF0477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5" t="8878" r="45205" b="9189"/>
          <a:stretch>
            <a:fillRect/>
          </a:stretch>
        </p:blipFill>
        <p:spPr>
          <a:xfrm>
            <a:off x="1472928" y="5866888"/>
            <a:ext cx="2497220" cy="693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57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DE85FCD-DE89-18F2-C507-04DC37938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78942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F72BA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Why do we care about sediment in reservoirs?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807A26-93BC-C46F-1401-1F855517624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714" y="998048"/>
            <a:ext cx="5512077" cy="35277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433A8A-96D4-EEE6-8545-99D5E19A49B8}"/>
              </a:ext>
            </a:extLst>
          </p:cNvPr>
          <p:cNvSpPr txBox="1"/>
          <p:nvPr/>
        </p:nvSpPr>
        <p:spPr>
          <a:xfrm>
            <a:off x="3423179" y="4213982"/>
            <a:ext cx="25589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Greg Morris, GLM Engineering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A24D3A-425B-B5A5-D0E0-E25CE56FFAC8}"/>
              </a:ext>
            </a:extLst>
          </p:cNvPr>
          <p:cNvSpPr txBox="1"/>
          <p:nvPr/>
        </p:nvSpPr>
        <p:spPr>
          <a:xfrm>
            <a:off x="6350277" y="1316934"/>
            <a:ext cx="4834978" cy="25410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F72BA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Drawbacks of sedimentation (just a few)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Storage reduction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Interference with dam operations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Reduced hydropower reliability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Dam safety risks and machinery damage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Downstream erosion</a:t>
            </a:r>
          </a:p>
        </p:txBody>
      </p:sp>
      <p:pic>
        <p:nvPicPr>
          <p:cNvPr id="2" name="Content Placeholder 5">
            <a:extLst>
              <a:ext uri="{FF2B5EF4-FFF2-40B4-BE49-F238E27FC236}">
                <a16:creationId xmlns:a16="http://schemas.microsoft.com/office/drawing/2014/main" id="{8E6B9D0F-FCC4-C2A8-9E81-AB54F58B3D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33072" y="4124680"/>
            <a:ext cx="2842255" cy="21115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Content Placeholder 5">
            <a:extLst>
              <a:ext uri="{FF2B5EF4-FFF2-40B4-BE49-F238E27FC236}">
                <a16:creationId xmlns:a16="http://schemas.microsoft.com/office/drawing/2014/main" id="{AE92C441-2809-37E0-0119-E1DD467EEBE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175327" y="4124679"/>
            <a:ext cx="2767190" cy="211150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E65FC72-46AB-0F84-2832-1821414DEB93}"/>
              </a:ext>
            </a:extLst>
          </p:cNvPr>
          <p:cNvSpPr txBox="1"/>
          <p:nvPr/>
        </p:nvSpPr>
        <p:spPr>
          <a:xfrm>
            <a:off x="10309058" y="6236186"/>
            <a:ext cx="25589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Randle et al. (2019)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C0D4A2-24F9-D5E1-E649-8939BCC3E190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516" y="4679667"/>
            <a:ext cx="5261762" cy="1556519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C57702A-991F-8BFF-35F0-40582B9ED02B}"/>
              </a:ext>
            </a:extLst>
          </p:cNvPr>
          <p:cNvSpPr txBox="1"/>
          <p:nvPr/>
        </p:nvSpPr>
        <p:spPr>
          <a:xfrm>
            <a:off x="3725433" y="6236186"/>
            <a:ext cx="2256665" cy="307777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Singh Thapa et al. (2015) </a:t>
            </a:r>
          </a:p>
        </p:txBody>
      </p:sp>
    </p:spTree>
    <p:extLst>
      <p:ext uri="{BB962C8B-B14F-4D97-AF65-F5344CB8AC3E}">
        <p14:creationId xmlns:p14="http://schemas.microsoft.com/office/powerpoint/2010/main" val="489830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822DB-2E23-79D5-6F7D-3199B8D1E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A857E-6789-B62F-8482-3ABBD212F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76" y="-52723"/>
            <a:ext cx="12427424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F72BA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Goal: estimate sedimentation across Lake Seminole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007C023-B3AA-6040-D63C-3E01143C42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765792"/>
              </p:ext>
            </p:extLst>
          </p:nvPr>
        </p:nvGraphicFramePr>
        <p:xfrm>
          <a:off x="379517" y="3479384"/>
          <a:ext cx="4846265" cy="24942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587562">
                  <a:extLst>
                    <a:ext uri="{9D8B030D-6E8A-4147-A177-3AD203B41FA5}">
                      <a16:colId xmlns:a16="http://schemas.microsoft.com/office/drawing/2014/main" val="33623987"/>
                    </a:ext>
                  </a:extLst>
                </a:gridCol>
                <a:gridCol w="2258703">
                  <a:extLst>
                    <a:ext uri="{9D8B030D-6E8A-4147-A177-3AD203B41FA5}">
                      <a16:colId xmlns:a16="http://schemas.microsoft.com/office/drawing/2014/main" val="354002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Chattahoochee arm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2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Flint arm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2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6731939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Level of management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0631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Low</a:t>
                      </a:r>
                      <a:endParaRPr lang="en-US" sz="1800" dirty="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4032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Sub-daily hydropeaking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Natural (seasonal) flow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3499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Depositional characteristics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426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Subaerial delta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Subaqueous 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042922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38EE7C1-1496-8A5E-9E88-2EFD33D5EB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4614323"/>
              </p:ext>
            </p:extLst>
          </p:nvPr>
        </p:nvGraphicFramePr>
        <p:xfrm>
          <a:off x="374004" y="1570728"/>
          <a:ext cx="4851778" cy="7416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851778">
                  <a:extLst>
                    <a:ext uri="{9D8B030D-6E8A-4147-A177-3AD203B41FA5}">
                      <a16:colId xmlns:a16="http://schemas.microsoft.com/office/drawing/2014/main" val="19674529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Reservoir operations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F72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4904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Constant water 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81919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EBF249D-810B-586A-468B-6505C71BC0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6533899"/>
              </p:ext>
            </p:extLst>
          </p:nvPr>
        </p:nvGraphicFramePr>
        <p:xfrm>
          <a:off x="374004" y="2525056"/>
          <a:ext cx="4851778" cy="7416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851778">
                  <a:extLst>
                    <a:ext uri="{9D8B030D-6E8A-4147-A177-3AD203B41FA5}">
                      <a16:colId xmlns:a16="http://schemas.microsoft.com/office/drawing/2014/main" val="19674529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Annual water volume inflow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2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4904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Similar between the two rivers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8191919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6829ED71-08D3-2656-C882-93312DBF780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40343" y="1479096"/>
            <a:ext cx="6272140" cy="4572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6D70E3-1DDD-7C1E-6518-1034FA13032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53416" y="1806641"/>
            <a:ext cx="2514605" cy="3572263"/>
          </a:xfrm>
          <a:prstGeom prst="rect">
            <a:avLst/>
          </a:prstGeom>
          <a:ln w="28575">
            <a:solidFill>
              <a:srgbClr val="0F72BA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246B983-BD61-F1C2-6333-F822685204F4}"/>
              </a:ext>
            </a:extLst>
          </p:cNvPr>
          <p:cNvSpPr/>
          <p:nvPr/>
        </p:nvSpPr>
        <p:spPr>
          <a:xfrm>
            <a:off x="203406" y="5246209"/>
            <a:ext cx="5192973" cy="13255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3555199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8E939-95A4-209B-DFBE-6A766185C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90248-B014-EAF3-37A5-337C35785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14300"/>
            <a:ext cx="111633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F72BA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A Delft3D-FM model to estimate sedimentation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34A51CD-2AC8-1934-7715-2126BEEB64A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97060" y="1473983"/>
            <a:ext cx="6364431" cy="4572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3462E5-D782-F2B0-828D-7381F6FF4838}"/>
              </a:ext>
            </a:extLst>
          </p:cNvPr>
          <p:cNvSpPr txBox="1"/>
          <p:nvPr/>
        </p:nvSpPr>
        <p:spPr>
          <a:xfrm>
            <a:off x="377787" y="3300054"/>
            <a:ext cx="227818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Hydrodynamics</a:t>
            </a:r>
          </a:p>
          <a:p>
            <a:pPr algn="ctr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Sediment transport</a:t>
            </a:r>
          </a:p>
          <a:p>
            <a:pPr algn="ctr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Bed evolution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81E76B-6B8A-33EF-0D8D-DD0288AF586C}"/>
              </a:ext>
            </a:extLst>
          </p:cNvPr>
          <p:cNvSpPr txBox="1"/>
          <p:nvPr/>
        </p:nvSpPr>
        <p:spPr>
          <a:xfrm>
            <a:off x="3413285" y="3309538"/>
            <a:ext cx="1412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Control water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24B818-BAE3-B127-C32B-080A3B2E3823}"/>
              </a:ext>
            </a:extLst>
          </p:cNvPr>
          <p:cNvSpPr txBox="1"/>
          <p:nvPr/>
        </p:nvSpPr>
        <p:spPr>
          <a:xfrm>
            <a:off x="940998" y="1273928"/>
            <a:ext cx="35233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F72BA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2D depth-averaged model </a:t>
            </a:r>
            <a:endParaRPr lang="en-US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E75EAE-4052-C480-F86B-0D1DA4999A11}"/>
              </a:ext>
            </a:extLst>
          </p:cNvPr>
          <p:cNvSpPr txBox="1"/>
          <p:nvPr/>
        </p:nvSpPr>
        <p:spPr>
          <a:xfrm>
            <a:off x="498300" y="2290608"/>
            <a:ext cx="20371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F72BA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Delft3D-FM</a:t>
            </a:r>
          </a:p>
          <a:p>
            <a:pPr algn="ctr"/>
            <a:r>
              <a:rPr lang="en-US" sz="2000" dirty="0">
                <a:latin typeface="Open Sans" pitchFamily="2" charset="0"/>
                <a:ea typeface="Open Sans" pitchFamily="2" charset="0"/>
                <a:cs typeface="Open Sans" pitchFamily="2" charset="0"/>
              </a:rPr>
              <a:t>(Flexible Mesh)</a:t>
            </a:r>
            <a:endParaRPr lang="en-US" sz="2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AFAA68-2F94-69DF-4390-7309248676ED}"/>
              </a:ext>
            </a:extLst>
          </p:cNvPr>
          <p:cNvSpPr txBox="1"/>
          <p:nvPr/>
        </p:nvSpPr>
        <p:spPr>
          <a:xfrm>
            <a:off x="2839558" y="2290608"/>
            <a:ext cx="255953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F72BA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RTC </a:t>
            </a:r>
          </a:p>
          <a:p>
            <a:pPr algn="ctr"/>
            <a:r>
              <a:rPr lang="en-US" sz="2000" dirty="0">
                <a:latin typeface="Open Sans" pitchFamily="2" charset="0"/>
                <a:ea typeface="Open Sans" pitchFamily="2" charset="0"/>
                <a:cs typeface="Open Sans" pitchFamily="2" charset="0"/>
              </a:rPr>
              <a:t>(Real Time Control)</a:t>
            </a:r>
            <a:endParaRPr lang="en-US" sz="20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D754A7D-CF33-23F8-17FB-F199E6D28DF0}"/>
              </a:ext>
            </a:extLst>
          </p:cNvPr>
          <p:cNvCxnSpPr>
            <a:cxnSpLocks/>
            <a:stCxn id="14" idx="2"/>
            <a:endCxn id="8" idx="0"/>
          </p:cNvCxnSpPr>
          <p:nvPr/>
        </p:nvCxnSpPr>
        <p:spPr>
          <a:xfrm>
            <a:off x="1516881" y="2998494"/>
            <a:ext cx="0" cy="30156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46684E4-AA80-650F-8B4E-01F6817C53EA}"/>
              </a:ext>
            </a:extLst>
          </p:cNvPr>
          <p:cNvCxnSpPr>
            <a:cxnSpLocks/>
            <a:stCxn id="18" idx="2"/>
            <a:endCxn id="9" idx="0"/>
          </p:cNvCxnSpPr>
          <p:nvPr/>
        </p:nvCxnSpPr>
        <p:spPr>
          <a:xfrm>
            <a:off x="4119325" y="2998494"/>
            <a:ext cx="0" cy="31104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0B11B6F-5ADF-FF3E-9E90-5E8315D60D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7042669"/>
              </p:ext>
            </p:extLst>
          </p:nvPr>
        </p:nvGraphicFramePr>
        <p:xfrm>
          <a:off x="301218" y="4390449"/>
          <a:ext cx="4999907" cy="20218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509748">
                  <a:extLst>
                    <a:ext uri="{9D8B030D-6E8A-4147-A177-3AD203B41FA5}">
                      <a16:colId xmlns:a16="http://schemas.microsoft.com/office/drawing/2014/main" val="364770910"/>
                    </a:ext>
                  </a:extLst>
                </a:gridCol>
                <a:gridCol w="2490159">
                  <a:extLst>
                    <a:ext uri="{9D8B030D-6E8A-4147-A177-3AD203B41FA5}">
                      <a16:colId xmlns:a16="http://schemas.microsoft.com/office/drawing/2014/main" val="2135073988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Calibration/Validation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2B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F72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1651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Hydrodynamic 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Flow velocity from ADCP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6356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Sediment transport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SSC samples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4230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Bed evolution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Sedimentation rates from cores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5155547"/>
                  </a:ext>
                </a:extLst>
              </a:tr>
            </a:tbl>
          </a:graphicData>
        </a:graphic>
      </p:graphicFrame>
      <p:sp>
        <p:nvSpPr>
          <p:cNvPr id="4" name="Equals 3">
            <a:extLst>
              <a:ext uri="{FF2B5EF4-FFF2-40B4-BE49-F238E27FC236}">
                <a16:creationId xmlns:a16="http://schemas.microsoft.com/office/drawing/2014/main" id="{96E14738-8D36-6DEE-B321-F1BC70C463F6}"/>
              </a:ext>
            </a:extLst>
          </p:cNvPr>
          <p:cNvSpPr/>
          <p:nvPr/>
        </p:nvSpPr>
        <p:spPr>
          <a:xfrm rot="5400000">
            <a:off x="2403220" y="1748131"/>
            <a:ext cx="599248" cy="408257"/>
          </a:xfrm>
          <a:prstGeom prst="mathEqual">
            <a:avLst/>
          </a:prstGeom>
          <a:solidFill>
            <a:srgbClr val="0F72B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Plus Sign 4">
            <a:extLst>
              <a:ext uri="{FF2B5EF4-FFF2-40B4-BE49-F238E27FC236}">
                <a16:creationId xmlns:a16="http://schemas.microsoft.com/office/drawing/2014/main" id="{9069051B-6EFA-01FA-2EA2-27082C2C3FC3}"/>
              </a:ext>
            </a:extLst>
          </p:cNvPr>
          <p:cNvSpPr/>
          <p:nvPr/>
        </p:nvSpPr>
        <p:spPr>
          <a:xfrm>
            <a:off x="2481099" y="2423628"/>
            <a:ext cx="425874" cy="441846"/>
          </a:xfrm>
          <a:prstGeom prst="mathPlus">
            <a:avLst/>
          </a:prstGeom>
          <a:solidFill>
            <a:srgbClr val="0F72B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427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1EA8A-10DA-B6B5-E8CD-FE28E6913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908" y="0"/>
            <a:ext cx="11158184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F72BA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Chattahoochee and Flint waters have limited mixing</a:t>
            </a:r>
          </a:p>
        </p:txBody>
      </p:sp>
      <p:pic>
        <p:nvPicPr>
          <p:cNvPr id="10" name="particle_tracking">
            <a:hlinkClick r:id="" action="ppaction://media"/>
            <a:extLst>
              <a:ext uri="{FF2B5EF4-FFF2-40B4-BE49-F238E27FC236}">
                <a16:creationId xmlns:a16="http://schemas.microsoft.com/office/drawing/2014/main" id="{484AC5E4-6754-7008-7DD2-35EDF9E0203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61020" y="2419088"/>
            <a:ext cx="5646420" cy="35661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B2F49F7-8041-12D4-8884-5142C00715EA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73522" y="2419088"/>
            <a:ext cx="5611504" cy="356616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E73E610-920A-F8C2-2D56-10C223A41CCC}"/>
              </a:ext>
            </a:extLst>
          </p:cNvPr>
          <p:cNvSpPr txBox="1"/>
          <p:nvPr/>
        </p:nvSpPr>
        <p:spPr>
          <a:xfrm>
            <a:off x="6637160" y="1417180"/>
            <a:ext cx="4868277" cy="504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Open Sans" pitchFamily="2" charset="0"/>
                <a:ea typeface="Open Sans" pitchFamily="2" charset="0"/>
                <a:cs typeface="Open Sans" pitchFamily="2" charset="0"/>
              </a:rPr>
              <a:t>Mixing only in </a:t>
            </a:r>
            <a:r>
              <a:rPr lang="en-US" sz="2000" b="1" dirty="0">
                <a:solidFill>
                  <a:srgbClr val="0F72BA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proximity</a:t>
            </a:r>
            <a:r>
              <a:rPr lang="en-US" sz="20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of the dam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22580B-98F5-EFF4-F6E3-2ED479085C2C}"/>
              </a:ext>
            </a:extLst>
          </p:cNvPr>
          <p:cNvSpPr txBox="1"/>
          <p:nvPr/>
        </p:nvSpPr>
        <p:spPr>
          <a:xfrm>
            <a:off x="1589727" y="1246098"/>
            <a:ext cx="3490937" cy="966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Open Sans" pitchFamily="2" charset="0"/>
                <a:ea typeface="Open Sans" pitchFamily="2" charset="0"/>
                <a:cs typeface="Open Sans" pitchFamily="2" charset="0"/>
              </a:rPr>
              <a:t>Particle tracking </a:t>
            </a:r>
            <a:r>
              <a:rPr lang="en-US" sz="2000" b="1" dirty="0">
                <a:solidFill>
                  <a:srgbClr val="0F72BA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dorado</a:t>
            </a:r>
            <a:r>
              <a:rPr lang="en-US" sz="20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(Hariharan et al., (2020)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3D31E5-1B8F-B42F-B7AD-CF041D210CB9}"/>
              </a:ext>
            </a:extLst>
          </p:cNvPr>
          <p:cNvSpPr txBox="1"/>
          <p:nvPr/>
        </p:nvSpPr>
        <p:spPr>
          <a:xfrm>
            <a:off x="425970" y="6182425"/>
            <a:ext cx="106884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1" dirty="0">
                <a:solidFill>
                  <a:srgbClr val="2E294E"/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Hariharan et al., (2020)</a:t>
            </a:r>
            <a:r>
              <a:rPr lang="en-US" sz="1200" b="0" i="0" dirty="0">
                <a:solidFill>
                  <a:srgbClr val="2E294E"/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US" sz="1200" b="0" dirty="0">
                <a:solidFill>
                  <a:srgbClr val="2E294E"/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dorado</a:t>
            </a:r>
            <a:r>
              <a:rPr lang="en-US" sz="1200" b="0" i="0" dirty="0">
                <a:solidFill>
                  <a:srgbClr val="2E294E"/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: A Python package for simulating passive particle transport in shallow-water flows. Journal of Open Source Software, 5(54), 2585, https://doi.org/10.21105/joss.02585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28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740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3" repeatCount="indefinite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  <p:bldLst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25294-8947-C4A8-4D72-EA200C597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849" y="122830"/>
            <a:ext cx="11058525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F72BA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Hydropeaking regulates sediment delivery in the Chattahoochee</a:t>
            </a:r>
          </a:p>
        </p:txBody>
      </p:sp>
      <p:pic>
        <p:nvPicPr>
          <p:cNvPr id="3" name="mesh2d_sedfrac_concentration_silt">
            <a:hlinkClick r:id="" action="ppaction://media"/>
            <a:extLst>
              <a:ext uri="{FF2B5EF4-FFF2-40B4-BE49-F238E27FC236}">
                <a16:creationId xmlns:a16="http://schemas.microsoft.com/office/drawing/2014/main" id="{1697D550-A808-4472-53B1-7E5E67DA669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8574" y="2443480"/>
            <a:ext cx="6035039" cy="384048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178B4AD-1D5C-54F6-DD3F-BEF9B26DBB4B}"/>
              </a:ext>
            </a:extLst>
          </p:cNvPr>
          <p:cNvSpPr/>
          <p:nvPr/>
        </p:nvSpPr>
        <p:spPr>
          <a:xfrm>
            <a:off x="952500" y="3876675"/>
            <a:ext cx="800100" cy="1190625"/>
          </a:xfrm>
          <a:prstGeom prst="rect">
            <a:avLst/>
          </a:prstGeom>
          <a:noFill/>
          <a:ln w="28575">
            <a:solidFill>
              <a:srgbClr val="0F72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263070-3DB7-ECF4-4017-C93E4B1D01E7}"/>
              </a:ext>
            </a:extLst>
          </p:cNvPr>
          <p:cNvSpPr txBox="1"/>
          <p:nvPr/>
        </p:nvSpPr>
        <p:spPr>
          <a:xfrm>
            <a:off x="1472119" y="2097480"/>
            <a:ext cx="263886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0F72BA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Cohesive fraction</a:t>
            </a:r>
          </a:p>
        </p:txBody>
      </p:sp>
      <p:pic>
        <p:nvPicPr>
          <p:cNvPr id="6" name="mesh2d_sedfrac_concentration_BC_68800_339000">
            <a:hlinkClick r:id="" action="ppaction://media"/>
            <a:extLst>
              <a:ext uri="{FF2B5EF4-FFF2-40B4-BE49-F238E27FC236}">
                <a16:creationId xmlns:a16="http://schemas.microsoft.com/office/drawing/2014/main" id="{C9CF19A3-6711-7AC9-E8D6-ACBBF1B454B2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065831" y="1288417"/>
            <a:ext cx="3882386" cy="5176515"/>
          </a:xfrm>
          <a:prstGeom prst="rect">
            <a:avLst/>
          </a:prstGeom>
          <a:ln w="28575">
            <a:solidFill>
              <a:srgbClr val="0F72BA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29E430-FBDB-8D23-BB8C-14CA6812CA0C}"/>
              </a:ext>
            </a:extLst>
          </p:cNvPr>
          <p:cNvSpPr txBox="1"/>
          <p:nvPr/>
        </p:nvSpPr>
        <p:spPr>
          <a:xfrm>
            <a:off x="595666" y="1419662"/>
            <a:ext cx="6139503" cy="504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Open Sans" pitchFamily="2" charset="0"/>
                <a:ea typeface="Open Sans" pitchFamily="2" charset="0"/>
                <a:cs typeface="Open Sans" pitchFamily="2" charset="0"/>
              </a:rPr>
              <a:t>Suspended sediment transport is </a:t>
            </a:r>
            <a:r>
              <a:rPr lang="en-US" sz="2000" b="1" dirty="0">
                <a:solidFill>
                  <a:srgbClr val="0F72BA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silt-dominated</a:t>
            </a:r>
          </a:p>
        </p:txBody>
      </p:sp>
    </p:spTree>
    <p:extLst>
      <p:ext uri="{BB962C8B-B14F-4D97-AF65-F5344CB8AC3E}">
        <p14:creationId xmlns:p14="http://schemas.microsoft.com/office/powerpoint/2010/main" val="2232187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2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342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3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8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9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7C442-1A07-44A8-6184-3242246B8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F72BA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Sedimentation is highly heterogeneous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43F455-5877-E73B-C435-C4ED5B77ED4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5095" y="2792664"/>
            <a:ext cx="7461771" cy="37393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CF23C3-315F-4355-BDBE-FF2E6725998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04575" y="2874371"/>
            <a:ext cx="3738795" cy="3657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F4D42F-C1B6-EE92-F230-B017D258709E}"/>
              </a:ext>
            </a:extLst>
          </p:cNvPr>
          <p:cNvSpPr txBox="1"/>
          <p:nvPr/>
        </p:nvSpPr>
        <p:spPr>
          <a:xfrm>
            <a:off x="838200" y="1141097"/>
            <a:ext cx="97852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The model reproduces the measured sedimentation rates</a:t>
            </a:r>
          </a:p>
          <a:p>
            <a:endParaRPr lang="en-US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Two very distinct depositional patterns</a:t>
            </a:r>
          </a:p>
          <a:p>
            <a:endParaRPr lang="en-US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On average, the lake accumulates sediment at about </a:t>
            </a:r>
            <a:r>
              <a:rPr lang="en-US" b="1" dirty="0">
                <a:solidFill>
                  <a:srgbClr val="0F72BA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1 cm/yr </a:t>
            </a: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(Trapping efficiency of </a:t>
            </a:r>
            <a:r>
              <a:rPr lang="en-US" b="1" dirty="0">
                <a:solidFill>
                  <a:srgbClr val="0F72BA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78%)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A8B4DD-689B-B6AA-E501-16F683F24F3F}"/>
              </a:ext>
            </a:extLst>
          </p:cNvPr>
          <p:cNvSpPr/>
          <p:nvPr/>
        </p:nvSpPr>
        <p:spPr>
          <a:xfrm>
            <a:off x="764275" y="2203206"/>
            <a:ext cx="9859167" cy="3480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EC7AC0-0534-C5D0-D874-FE73612CE3F3}"/>
              </a:ext>
            </a:extLst>
          </p:cNvPr>
          <p:cNvSpPr/>
          <p:nvPr/>
        </p:nvSpPr>
        <p:spPr>
          <a:xfrm>
            <a:off x="838200" y="1751949"/>
            <a:ext cx="9859167" cy="3480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83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9184B-CAFB-67A9-D6AC-FBC01A3D1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F72BA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In summary …</a:t>
            </a:r>
          </a:p>
        </p:txBody>
      </p:sp>
      <p:pic>
        <p:nvPicPr>
          <p:cNvPr id="4" name="streamlines_v2">
            <a:hlinkClick r:id="" action="ppaction://media"/>
            <a:extLst>
              <a:ext uri="{FF2B5EF4-FFF2-40B4-BE49-F238E27FC236}">
                <a16:creationId xmlns:a16="http://schemas.microsoft.com/office/drawing/2014/main" id="{15E27ADD-8103-E58C-981A-5AF829FCB5E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14983" r="8542" b="6216"/>
          <a:stretch>
            <a:fillRect/>
          </a:stretch>
        </p:blipFill>
        <p:spPr>
          <a:xfrm>
            <a:off x="2738839" y="2389878"/>
            <a:ext cx="7249758" cy="39039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5D20751-3A3A-591A-2FBF-CE7D498066E6}"/>
              </a:ext>
            </a:extLst>
          </p:cNvPr>
          <p:cNvSpPr txBox="1"/>
          <p:nvPr/>
        </p:nvSpPr>
        <p:spPr>
          <a:xfrm>
            <a:off x="2096347" y="6271146"/>
            <a:ext cx="79993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F72BA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Thank you! Any questions? Contact: cortel@bc.edu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66C358-32D4-E141-2A75-3EEEC624AE55}"/>
              </a:ext>
            </a:extLst>
          </p:cNvPr>
          <p:cNvSpPr txBox="1"/>
          <p:nvPr/>
        </p:nvSpPr>
        <p:spPr>
          <a:xfrm>
            <a:off x="904473" y="1064315"/>
            <a:ext cx="10080004" cy="12945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The 2 arms are disconnected until proximity of the dam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Hydropeaking mobilizes higher volumes of sediments in the Chattahoochee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Different types of deposition: sedimentation is </a:t>
            </a:r>
            <a:r>
              <a:rPr lang="en-US" b="1" dirty="0">
                <a:solidFill>
                  <a:srgbClr val="0F72BA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NOT</a:t>
            </a: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 an issue in Lake Seminole (for now…)</a:t>
            </a:r>
          </a:p>
        </p:txBody>
      </p:sp>
    </p:spTree>
    <p:extLst>
      <p:ext uri="{BB962C8B-B14F-4D97-AF65-F5344CB8AC3E}">
        <p14:creationId xmlns:p14="http://schemas.microsoft.com/office/powerpoint/2010/main" val="2632708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1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4759</TotalTime>
  <Words>433</Words>
  <Application>Microsoft Office PowerPoint</Application>
  <PresentationFormat>Widescreen</PresentationFormat>
  <Paragraphs>71</Paragraphs>
  <Slides>8</Slides>
  <Notes>3</Notes>
  <HiddenSlides>0</HiddenSlides>
  <MMClips>4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Open Sans</vt:lpstr>
      <vt:lpstr>Office Theme</vt:lpstr>
      <vt:lpstr>Modelling the Morphodynamic Response To Flow Regulation In An Artificial Reservoir</vt:lpstr>
      <vt:lpstr>Why do we care about sediment in reservoirs?</vt:lpstr>
      <vt:lpstr>Goal: estimate sedimentation across Lake Seminole</vt:lpstr>
      <vt:lpstr>A Delft3D-FM model to estimate sedimentation</vt:lpstr>
      <vt:lpstr>Chattahoochee and Flint waters have limited mixing</vt:lpstr>
      <vt:lpstr>Hydropeaking regulates sediment delivery in the Chattahoochee</vt:lpstr>
      <vt:lpstr>Sedimentation is highly heterogeneous</vt:lpstr>
      <vt:lpstr>In summary …</vt:lpstr>
    </vt:vector>
  </TitlesOfParts>
  <Company>Boston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 Cortese</dc:creator>
  <cp:lastModifiedBy>Luca Cortese</cp:lastModifiedBy>
  <cp:revision>70</cp:revision>
  <dcterms:created xsi:type="dcterms:W3CDTF">2026-04-16T14:06:14Z</dcterms:created>
  <dcterms:modified xsi:type="dcterms:W3CDTF">2026-10-14T17:00:21Z</dcterms:modified>
</cp:coreProperties>
</file>